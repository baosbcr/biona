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4"/>
  </p:sldMasterIdLst>
  <p:notesMasterIdLst>
    <p:notesMasterId r:id="rId19"/>
  </p:notesMasterIdLst>
  <p:handoutMasterIdLst>
    <p:handoutMasterId r:id="rId20"/>
  </p:handoutMasterIdLst>
  <p:sldIdLst>
    <p:sldId id="256" r:id="rId15"/>
    <p:sldId id="260" r:id="rId16"/>
    <p:sldId id="282" r:id="rId17"/>
    <p:sldId id="261" r:id="rId18"/>
  </p:sldIdLst>
  <p:sldSz cx="12190413" cy="6858000"/>
  <p:notesSz cx="6858000" cy="9144000"/>
  <p:custDataLst>
    <p:tags r:id="rId21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D082"/>
    <a:srgbClr val="0000FF"/>
    <a:srgbClr val="2F3EEA"/>
    <a:srgbClr val="FFFFFF"/>
    <a:srgbClr val="990000"/>
    <a:srgbClr val="000000"/>
    <a:srgbClr val="FFCC00"/>
    <a:srgbClr val="FF6600"/>
    <a:srgbClr val="FF0000"/>
    <a:srgbClr val="FF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5244" autoAdjust="0"/>
  </p:normalViewPr>
  <p:slideViewPr>
    <p:cSldViewPr showGuides="1">
      <p:cViewPr varScale="1">
        <p:scale>
          <a:sx n="70" d="100"/>
          <a:sy n="70" d="100"/>
        </p:scale>
        <p:origin x="460" y="5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customXml" Target="../customXml/item13.xml"/><Relationship Id="rId18" Type="http://schemas.openxmlformats.org/officeDocument/2006/relationships/slide" Target="slides/slide4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slide" Target="slides/slide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" Target="slides/slide1.xml"/><Relationship Id="rId23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Master" Target="slideMasters/slideMaster1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28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1FD08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17C6C-7BC3-4888-BC29-FAB17565D1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Title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E4668-D07F-4B96-9755-1754027348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AB169-F2BD-D9BB-CE0F-5F637B3996E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B8C6A0-6F12-5189-2843-A13545722E7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6BE38-4A6B-1AC8-A692-DB2764BBFC2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9A3795-818A-B4DC-50FB-03D91E70E81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0850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050B8-1BD4-3E95-65ED-500F516EC77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1AD23-D8CD-56F1-46A2-11AD89C2BAC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US" dirty="0"/>
              <a:t>Click to add title one line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US" dirty="0"/>
              <a:t>Click to add title one line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DF7A5-81E3-39DC-04C5-508AF09B689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38C6BE-AC51-E824-5F3C-98B44B95325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FA5FF2-7A4C-611C-5A16-FC84D6CDD06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rgbClr val="1FD08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a-DK"/>
              <a:t>Date</a:t>
            </a:r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1FD08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a-DK"/>
              <a:t>Date</a:t>
            </a:r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Title</a:t>
            </a:r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1FD082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1FD082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1FD082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1FD08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spcBef>
                <a:spcPts val="0"/>
              </a:spcBef>
              <a:defRPr sz="700" b="0">
                <a:noFill/>
                <a:latin typeface="+mn-lt"/>
              </a:defRPr>
            </a:lvl1pPr>
          </a:lstStyle>
          <a:p>
            <a:r>
              <a:rPr lang="da-DK"/>
              <a:t>Title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3676" name="text" descr="{&quot;templafy&quot;:{&quot;type&quot;:&quot;text&quot;,&quot;binding&quot;:&quot;UserProfile.Offices.Workarea_{{DocumentLanguage}}&quot;}}" title="UserProfile.Offices.Workarea_{{DocumentLanguage}}"/>
          <p:cNvSpPr>
            <a:spLocks noChangeArrowheads="1"/>
          </p:cNvSpPr>
          <p:nvPr userDrawn="1"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a-DK" sz="700" b="1" dirty="0">
                <a:solidFill>
                  <a:schemeClr val="bg1"/>
                </a:solidFill>
                <a:latin typeface="+mn-lt"/>
              </a:rPr>
              <a:t>Technical University of Denmark</a:t>
            </a:r>
          </a:p>
        </p:txBody>
      </p:sp>
      <p:sp>
        <p:nvSpPr>
          <p:cNvPr id="5" name="date" descr="{&quot;templafy&quot;:{&quot;type&quot;:&quot;date&quot;,&quot;binding&quot;:&quot;Form.Date&quot;,&quot;format&quot;:&quot;{{DateFormats.GeneralDate}}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1FD082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4E914A9-9005-14DF-4924-42BCBBA1D1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5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8.xml"/><Relationship Id="rId1" Type="http://schemas.openxmlformats.org/officeDocument/2006/relationships/customXml" Target="../../customXml/item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cej.2025.161953" TargetMode="External"/><Relationship Id="rId2" Type="http://schemas.openxmlformats.org/officeDocument/2006/relationships/hyperlink" Target="https://doi.org/10.1021/acs.energyfuels.5c04452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.jpg"/><Relationship Id="rId4" Type="http://schemas.openxmlformats.org/officeDocument/2006/relationships/hyperlink" Target="https://doi.org/10.1016/j.mattod.2018.12.04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0772F9-F0FC-4258-943A-483E60A34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13EF6E-BC23-40A0-80D4-1EBE64DC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06589-D60F-DBB4-77B9-A537FA935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</p:spTree>
    <p:custDataLst>
      <p:custData r:id="rId1"/>
      <p:custData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4358EA-4D5B-461F-997D-DE6729900D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Status update</a:t>
            </a:r>
            <a:br>
              <a:rPr lang="en-GB" dirty="0"/>
            </a:br>
            <a:r>
              <a:rPr lang="en-GB" sz="2400" dirty="0"/>
              <a:t>Hard Carbon Synthesis &amp; Characterisation for Sodium-Ion Anodes</a:t>
            </a:r>
            <a:br>
              <a:rPr lang="en-GB" sz="2400" dirty="0"/>
            </a:br>
            <a:br>
              <a:rPr lang="en-GB" sz="2400" dirty="0"/>
            </a:br>
            <a:br>
              <a:rPr lang="en-GB" sz="2400" dirty="0"/>
            </a:br>
            <a:r>
              <a:rPr lang="en-GB" sz="1000" dirty="0"/>
              <a:t>10 ECTS: 18-05 / 31-07-2026</a:t>
            </a:r>
            <a:br>
              <a:rPr lang="en-GB" sz="1000" dirty="0"/>
            </a:br>
            <a:r>
              <a:rPr lang="en-GB" sz="1000" dirty="0"/>
              <a:t>Nihat Sahin</a:t>
            </a:r>
            <a:br>
              <a:rPr lang="en-GB" sz="1000" dirty="0"/>
            </a:br>
            <a:r>
              <a:rPr lang="en-GB" sz="1000" dirty="0"/>
              <a:t>Peter Curran</a:t>
            </a:r>
            <a:br>
              <a:rPr lang="en-GB" sz="1000" dirty="0"/>
            </a:br>
            <a:r>
              <a:rPr lang="en-GB" sz="1000" dirty="0"/>
              <a:t>Johan Hjelm</a:t>
            </a:r>
            <a:br>
              <a:rPr lang="en-GB" sz="1000" dirty="0"/>
            </a:br>
            <a:endParaRPr lang="en-GB" sz="10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8CE6942-A17C-4247-86C6-41FACF7E90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Joao Maria De Sacadura Botte Corte-Real (195687)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5995EB-10E4-4119-B468-5CD7D10A093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4C8C45C-947F-4981-8B3F-4F32E973C901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DBBA3C-F9BD-4F12-2D67-5B2BDC2BA7D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a-DK" dirty="0"/>
              <a:t>14-05-2026</a:t>
            </a:r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20714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34577E5D-6184-E1BE-7056-D00474EFC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489" y="172720"/>
            <a:ext cx="7576050" cy="289355"/>
          </a:xfrm>
        </p:spPr>
        <p:txBody>
          <a:bodyPr/>
          <a:lstStyle/>
          <a:p>
            <a:r>
              <a:rPr lang="en-GB" sz="2000" dirty="0"/>
              <a:t>Joao Materials: Multi-stage Pyrolysis</a:t>
            </a:r>
          </a:p>
        </p:txBody>
      </p:sp>
      <p:sp>
        <p:nvSpPr>
          <p:cNvPr id="10" name="FLD_Presentation Title"/>
          <p:cNvSpPr>
            <a:spLocks noGrp="1"/>
          </p:cNvSpPr>
          <p:nvPr>
            <p:ph type="ftr" sz="quarter" idx="10"/>
          </p:nvPr>
        </p:nvSpPr>
        <p:spPr>
          <a:xfrm>
            <a:off x="5590800" y="6541200"/>
            <a:ext cx="5497200" cy="316800"/>
          </a:xfrm>
        </p:spPr>
        <p:txBody>
          <a:bodyPr/>
          <a:lstStyle/>
          <a:p>
            <a:r>
              <a:rPr lang="en-GB">
                <a:solidFill>
                  <a:schemeClr val="bg1"/>
                </a:solidFill>
              </a:rPr>
              <a:t>Title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1506450" y="6541200"/>
            <a:ext cx="432600" cy="316800"/>
          </a:xfrm>
        </p:spPr>
        <p:txBody>
          <a:bodyPr/>
          <a:lstStyle/>
          <a:p>
            <a:fld id="{103EA872-A674-449B-A120-B97244F8E91D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109FE4D0-5B68-3D36-BF0C-02BADFD78AC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2E32B9F-B00F-8A29-526B-D7851E6C5672}"/>
              </a:ext>
            </a:extLst>
          </p:cNvPr>
          <p:cNvGrpSpPr/>
          <p:nvPr/>
        </p:nvGrpSpPr>
        <p:grpSpPr>
          <a:xfrm>
            <a:off x="46534" y="1373443"/>
            <a:ext cx="1057387" cy="831421"/>
            <a:chOff x="46534" y="1373443"/>
            <a:chExt cx="1057387" cy="83142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F540FE9-2B41-8187-063A-5DAE38FB737F}"/>
                </a:ext>
              </a:extLst>
            </p:cNvPr>
            <p:cNvSpPr/>
            <p:nvPr/>
          </p:nvSpPr>
          <p:spPr bwMode="auto">
            <a:xfrm>
              <a:off x="46534" y="1397904"/>
              <a:ext cx="216024" cy="216024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rgbClr val="1FD082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2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9A5A419-0DB8-5B9F-4908-5080EC50CC56}"/>
                </a:ext>
              </a:extLst>
            </p:cNvPr>
            <p:cNvSpPr/>
            <p:nvPr/>
          </p:nvSpPr>
          <p:spPr bwMode="auto">
            <a:xfrm>
              <a:off x="46534" y="1685936"/>
              <a:ext cx="216024" cy="216024"/>
            </a:xfrm>
            <a:prstGeom prst="rect">
              <a:avLst/>
            </a:prstGeom>
            <a:solidFill>
              <a:srgbClr val="0000FF"/>
            </a:solidFill>
            <a:ln w="9525" cap="flat" cmpd="sng" algn="ctr">
              <a:solidFill>
                <a:srgbClr val="1FD082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2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5255926-78DF-95DD-31E3-0189AA3E289C}"/>
                </a:ext>
              </a:extLst>
            </p:cNvPr>
            <p:cNvSpPr/>
            <p:nvPr/>
          </p:nvSpPr>
          <p:spPr bwMode="auto">
            <a:xfrm>
              <a:off x="46534" y="1988840"/>
              <a:ext cx="216024" cy="216024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rgbClr val="1FD082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2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408647C-030B-9943-E42A-1EA3BA35A246}"/>
                </a:ext>
              </a:extLst>
            </p:cNvPr>
            <p:cNvSpPr txBox="1"/>
            <p:nvPr/>
          </p:nvSpPr>
          <p:spPr>
            <a:xfrm>
              <a:off x="345124" y="1373443"/>
              <a:ext cx="74058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spcBef>
                  <a:spcPts val="432"/>
                </a:spcBef>
              </a:pPr>
              <a:r>
                <a:rPr lang="da-DK" sz="1200" dirty="0" err="1">
                  <a:latin typeface="+mn-lt"/>
                </a:rPr>
                <a:t>Completed</a:t>
              </a:r>
              <a:endParaRPr lang="da-DK" sz="1200" dirty="0">
                <a:latin typeface="+mn-lt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537355D-D2A0-A71A-7FC1-98AA67EFD936}"/>
                </a:ext>
              </a:extLst>
            </p:cNvPr>
            <p:cNvSpPr txBox="1"/>
            <p:nvPr/>
          </p:nvSpPr>
          <p:spPr>
            <a:xfrm>
              <a:off x="345124" y="1670837"/>
              <a:ext cx="75822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spcBef>
                  <a:spcPts val="432"/>
                </a:spcBef>
              </a:pPr>
              <a:r>
                <a:rPr lang="da-DK" sz="1200" dirty="0">
                  <a:latin typeface="+mn-lt"/>
                </a:rPr>
                <a:t>Processing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A05EA81-5217-E21F-C025-F002C64212B1}"/>
                </a:ext>
              </a:extLst>
            </p:cNvPr>
            <p:cNvSpPr txBox="1"/>
            <p:nvPr/>
          </p:nvSpPr>
          <p:spPr>
            <a:xfrm>
              <a:off x="345124" y="1988840"/>
              <a:ext cx="75879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spcBef>
                  <a:spcPts val="432"/>
                </a:spcBef>
              </a:pPr>
              <a:r>
                <a:rPr lang="da-DK" sz="1200" dirty="0">
                  <a:latin typeface="+mn-lt"/>
                </a:rPr>
                <a:t>To </a:t>
              </a:r>
              <a:r>
                <a:rPr lang="da-DK" sz="1200" dirty="0" err="1">
                  <a:latin typeface="+mn-lt"/>
                </a:rPr>
                <a:t>be</a:t>
              </a:r>
              <a:r>
                <a:rPr lang="da-DK" sz="1200" dirty="0">
                  <a:latin typeface="+mn-lt"/>
                </a:rPr>
                <a:t> done</a:t>
              </a:r>
            </a:p>
          </p:txBody>
        </p:sp>
      </p:grpSp>
      <p:graphicFrame>
        <p:nvGraphicFramePr>
          <p:cNvPr id="15" name="Content Placeholder 1">
            <a:extLst>
              <a:ext uri="{FF2B5EF4-FFF2-40B4-BE49-F238E27FC236}">
                <a16:creationId xmlns:a16="http://schemas.microsoft.com/office/drawing/2014/main" id="{C01ACEA3-BA94-7003-9479-F10AC40A89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7989232"/>
              </p:ext>
            </p:extLst>
          </p:nvPr>
        </p:nvGraphicFramePr>
        <p:xfrm>
          <a:off x="1157228" y="620688"/>
          <a:ext cx="10914642" cy="58284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00443">
                  <a:extLst>
                    <a:ext uri="{9D8B030D-6E8A-4147-A177-3AD203B41FA5}">
                      <a16:colId xmlns:a16="http://schemas.microsoft.com/office/drawing/2014/main" val="3814454886"/>
                    </a:ext>
                  </a:extLst>
                </a:gridCol>
                <a:gridCol w="1551305">
                  <a:extLst>
                    <a:ext uri="{9D8B030D-6E8A-4147-A177-3AD203B41FA5}">
                      <a16:colId xmlns:a16="http://schemas.microsoft.com/office/drawing/2014/main" val="2903342625"/>
                    </a:ext>
                  </a:extLst>
                </a:gridCol>
                <a:gridCol w="947223">
                  <a:extLst>
                    <a:ext uri="{9D8B030D-6E8A-4147-A177-3AD203B41FA5}">
                      <a16:colId xmlns:a16="http://schemas.microsoft.com/office/drawing/2014/main" val="108860211"/>
                    </a:ext>
                  </a:extLst>
                </a:gridCol>
                <a:gridCol w="653167">
                  <a:extLst>
                    <a:ext uri="{9D8B030D-6E8A-4147-A177-3AD203B41FA5}">
                      <a16:colId xmlns:a16="http://schemas.microsoft.com/office/drawing/2014/main" val="1730172770"/>
                    </a:ext>
                  </a:extLst>
                </a:gridCol>
                <a:gridCol w="553882">
                  <a:extLst>
                    <a:ext uri="{9D8B030D-6E8A-4147-A177-3AD203B41FA5}">
                      <a16:colId xmlns:a16="http://schemas.microsoft.com/office/drawing/2014/main" val="2134937160"/>
                    </a:ext>
                  </a:extLst>
                </a:gridCol>
                <a:gridCol w="654225">
                  <a:extLst>
                    <a:ext uri="{9D8B030D-6E8A-4147-A177-3AD203B41FA5}">
                      <a16:colId xmlns:a16="http://schemas.microsoft.com/office/drawing/2014/main" val="278224597"/>
                    </a:ext>
                  </a:extLst>
                </a:gridCol>
                <a:gridCol w="1011555">
                  <a:extLst>
                    <a:ext uri="{9D8B030D-6E8A-4147-A177-3AD203B41FA5}">
                      <a16:colId xmlns:a16="http://schemas.microsoft.com/office/drawing/2014/main" val="586866939"/>
                    </a:ext>
                  </a:extLst>
                </a:gridCol>
                <a:gridCol w="746019">
                  <a:extLst>
                    <a:ext uri="{9D8B030D-6E8A-4147-A177-3AD203B41FA5}">
                      <a16:colId xmlns:a16="http://schemas.microsoft.com/office/drawing/2014/main" val="2975130035"/>
                    </a:ext>
                  </a:extLst>
                </a:gridCol>
                <a:gridCol w="876407">
                  <a:extLst>
                    <a:ext uri="{9D8B030D-6E8A-4147-A177-3AD203B41FA5}">
                      <a16:colId xmlns:a16="http://schemas.microsoft.com/office/drawing/2014/main" val="3184503371"/>
                    </a:ext>
                  </a:extLst>
                </a:gridCol>
                <a:gridCol w="593874">
                  <a:extLst>
                    <a:ext uri="{9D8B030D-6E8A-4147-A177-3AD203B41FA5}">
                      <a16:colId xmlns:a16="http://schemas.microsoft.com/office/drawing/2014/main" val="2629157884"/>
                    </a:ext>
                  </a:extLst>
                </a:gridCol>
                <a:gridCol w="573728">
                  <a:extLst>
                    <a:ext uri="{9D8B030D-6E8A-4147-A177-3AD203B41FA5}">
                      <a16:colId xmlns:a16="http://schemas.microsoft.com/office/drawing/2014/main" val="1835439259"/>
                    </a:ext>
                  </a:extLst>
                </a:gridCol>
                <a:gridCol w="876407">
                  <a:extLst>
                    <a:ext uri="{9D8B030D-6E8A-4147-A177-3AD203B41FA5}">
                      <a16:colId xmlns:a16="http://schemas.microsoft.com/office/drawing/2014/main" val="3018582643"/>
                    </a:ext>
                  </a:extLst>
                </a:gridCol>
                <a:gridCol w="876407">
                  <a:extLst>
                    <a:ext uri="{9D8B030D-6E8A-4147-A177-3AD203B41FA5}">
                      <a16:colId xmlns:a16="http://schemas.microsoft.com/office/drawing/2014/main" val="39443941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Material</a:t>
                      </a:r>
                      <a:r>
                        <a:rPr lang="da-DK" sz="1400" dirty="0"/>
                        <a:t> ID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da-DK" sz="1400" dirty="0" err="1"/>
                        <a:t>Pyrolysis</a:t>
                      </a:r>
                      <a:endParaRPr lang="da-DK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Mass </a:t>
                      </a:r>
                    </a:p>
                    <a:p>
                      <a:r>
                        <a:rPr lang="da-DK" sz="1400" dirty="0"/>
                        <a:t>in-out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Yield</a:t>
                      </a:r>
                      <a:r>
                        <a:rPr lang="da-DK" sz="1400" dirty="0"/>
                        <a:t>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 err="1"/>
                        <a:t>Battery</a:t>
                      </a:r>
                      <a:r>
                        <a:rPr lang="da-DK" sz="1400" dirty="0"/>
                        <a:t>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XRD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XRF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N2-BET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Raman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18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a-DK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MMB1A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b="0" dirty="0" err="1">
                          <a:solidFill>
                            <a:srgbClr val="FF0000"/>
                          </a:solidFill>
                        </a:rPr>
                        <a:t>Coin</a:t>
                      </a:r>
                      <a:r>
                        <a:rPr lang="da-DK" sz="12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a-DK" sz="1200" b="0" dirty="0" err="1">
                          <a:solidFill>
                            <a:srgbClr val="FF0000"/>
                          </a:solidFill>
                        </a:rPr>
                        <a:t>cell</a:t>
                      </a:r>
                      <a:endParaRPr lang="da-DK" sz="1200" b="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600" b="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346267"/>
                  </a:ext>
                </a:extLst>
              </a:tr>
              <a:tr h="458872">
                <a:tc>
                  <a:txBody>
                    <a:bodyPr/>
                    <a:lstStyle/>
                    <a:p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26-05-2026</a:t>
                      </a:r>
                    </a:p>
                    <a:p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MMB1_6A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→ 600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180 °C/h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N2 (50%)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→ 10. 0015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→ 6.8485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68.47%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b="0" dirty="0" err="1">
                          <a:solidFill>
                            <a:srgbClr val="FF0000"/>
                          </a:solidFill>
                        </a:rPr>
                        <a:t>Coin</a:t>
                      </a:r>
                      <a:r>
                        <a:rPr lang="da-DK" sz="12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a-DK" sz="1200" b="0" dirty="0" err="1">
                          <a:solidFill>
                            <a:srgbClr val="FF0000"/>
                          </a:solidFill>
                        </a:rPr>
                        <a:t>cell</a:t>
                      </a:r>
                      <a:endParaRPr lang="da-DK" sz="1200" b="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600" b="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441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04-06-2026</a:t>
                      </a:r>
                    </a:p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JM+NS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MMB1_7A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→ 700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180 °C/h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N2 (50%)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→10.0972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→6.7481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66.83%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141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27-05-2026</a:t>
                      </a:r>
                    </a:p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JM+NS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MMB1_8A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→ 800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180 °C/h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N2 (50%)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→10.0002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→6.5844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65.84%</a:t>
                      </a:r>
                    </a:p>
                    <a:p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 err="1">
                          <a:solidFill>
                            <a:srgbClr val="FF0000"/>
                          </a:solidFill>
                        </a:rPr>
                        <a:t>Coin</a:t>
                      </a:r>
                      <a:r>
                        <a:rPr lang="da-DK" sz="12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a-DK" sz="1200" b="0" dirty="0" err="1">
                          <a:solidFill>
                            <a:srgbClr val="FF0000"/>
                          </a:solidFill>
                        </a:rPr>
                        <a:t>cell</a:t>
                      </a:r>
                      <a:endParaRPr lang="da-DK" sz="1200" b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6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32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01-06-2026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JM+NS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MMB1_9A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→ 900 °C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180 °C/h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N2 (50%)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→10.0087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→6.4991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64.93%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387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28-05-2026</a:t>
                      </a:r>
                    </a:p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JM+NS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MMB1_10A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→ 1000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180 °C/h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N2 (50%)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→10.0095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→6.3498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63.43%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 err="1">
                          <a:solidFill>
                            <a:srgbClr val="FF0000"/>
                          </a:solidFill>
                        </a:rPr>
                        <a:t>Coin</a:t>
                      </a:r>
                      <a:r>
                        <a:rPr lang="da-DK" sz="12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a-DK" sz="1200" b="0" dirty="0" err="1">
                          <a:solidFill>
                            <a:srgbClr val="FF0000"/>
                          </a:solidFill>
                        </a:rPr>
                        <a:t>cell</a:t>
                      </a:r>
                      <a:endParaRPr lang="da-DK" sz="1200" b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  <a:p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6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2587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483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01-06-2026</a:t>
                      </a:r>
                    </a:p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JM+NS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MMB1_12A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→ 1200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180 °C/h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N2 (50%)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→10.0062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→6.2284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62.24%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 err="1">
                          <a:solidFill>
                            <a:srgbClr val="FF0000"/>
                          </a:solidFill>
                        </a:rPr>
                        <a:t>Coin</a:t>
                      </a:r>
                      <a:r>
                        <a:rPr lang="da-DK" sz="12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a-DK" sz="1200" b="0" dirty="0" err="1">
                          <a:solidFill>
                            <a:srgbClr val="FF0000"/>
                          </a:solidFill>
                        </a:rPr>
                        <a:t>cell</a:t>
                      </a:r>
                      <a:endParaRPr lang="da-DK" sz="1200" b="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6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3873035"/>
                  </a:ext>
                </a:extLst>
              </a:tr>
              <a:tr h="436200"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29-06-2026</a:t>
                      </a:r>
                    </a:p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MMB1_12A-1C/min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→ 1200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60 °C/h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N2 (50%)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→10.0015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→6.3281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63.27%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6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818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rgbClr val="FF0000"/>
                          </a:solidFill>
                        </a:rPr>
                        <a:t>xx-06-2026</a:t>
                      </a:r>
                    </a:p>
                    <a:p>
                      <a:r>
                        <a:rPr lang="da-DK" sz="1200" dirty="0">
                          <a:solidFill>
                            <a:srgbClr val="FF0000"/>
                          </a:solidFill>
                        </a:rPr>
                        <a:t>JM+NS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>
                          <a:solidFill>
                            <a:srgbClr val="FF0000"/>
                          </a:solidFill>
                        </a:rPr>
                        <a:t>MMB1_12A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>
                          <a:solidFill>
                            <a:srgbClr val="FF0000"/>
                          </a:solidFill>
                        </a:rPr>
                        <a:t>10C/min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→ 1200 °C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rgbClr val="FF0000"/>
                          </a:solidFill>
                        </a:rPr>
                        <a:t>600 °C/h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N2 (50%)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0" dirty="0">
                          <a:solidFill>
                            <a:schemeClr val="tx1"/>
                          </a:solidFill>
                        </a:rPr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rgbClr val="FF0000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878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02-05-2026</a:t>
                      </a:r>
                    </a:p>
                    <a:p>
                      <a:r>
                        <a:rPr lang="da-DK" sz="1200" dirty="0">
                          <a:solidFill>
                            <a:schemeClr val="tx1"/>
                          </a:solidFill>
                        </a:rPr>
                        <a:t>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/>
                        <a:t>MMB1_13A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/>
                        <a:t>→ 1300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/>
                        <a:t>180 °C/h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/>
                        <a:t>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200" dirty="0"/>
                        <a:t>N2 (50%)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/>
                        <a:t>→10.0125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dirty="0"/>
                        <a:t>→6.1867g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200" dirty="0"/>
                    </a:p>
                    <a:p>
                      <a:r>
                        <a:rPr lang="da-DK" sz="1200" dirty="0"/>
                        <a:t>61.85%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962337"/>
                  </a:ext>
                </a:extLst>
              </a:tr>
            </a:tbl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9429ED77-0E57-7EF7-A1D6-3A542CBC5189}"/>
              </a:ext>
            </a:extLst>
          </p:cNvPr>
          <p:cNvGrpSpPr/>
          <p:nvPr/>
        </p:nvGrpSpPr>
        <p:grpSpPr>
          <a:xfrm>
            <a:off x="46534" y="2927224"/>
            <a:ext cx="1075469" cy="789808"/>
            <a:chOff x="46534" y="2711200"/>
            <a:chExt cx="1075469" cy="78980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620776C-A308-06A3-84F1-0B8BD320FE48}"/>
                </a:ext>
              </a:extLst>
            </p:cNvPr>
            <p:cNvSpPr/>
            <p:nvPr/>
          </p:nvSpPr>
          <p:spPr bwMode="auto">
            <a:xfrm>
              <a:off x="46534" y="3284984"/>
              <a:ext cx="216024" cy="216024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rgbClr val="1FD082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2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FD082"/>
                </a:highlight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934994-77AE-8922-71A9-B7DB080B2341}"/>
                </a:ext>
              </a:extLst>
            </p:cNvPr>
            <p:cNvSpPr txBox="1"/>
            <p:nvPr/>
          </p:nvSpPr>
          <p:spPr>
            <a:xfrm>
              <a:off x="326914" y="3316342"/>
              <a:ext cx="79508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spcBef>
                  <a:spcPts val="432"/>
                </a:spcBef>
              </a:pPr>
              <a:r>
                <a:rPr lang="da-DK" sz="1200" dirty="0"/>
                <a:t>→ </a:t>
              </a:r>
              <a:r>
                <a:rPr lang="da-DK" sz="1200" dirty="0" err="1">
                  <a:latin typeface="+mn-lt"/>
                </a:rPr>
                <a:t>Coin</a:t>
              </a:r>
              <a:r>
                <a:rPr lang="da-DK" sz="1200" dirty="0">
                  <a:latin typeface="+mn-lt"/>
                </a:rPr>
                <a:t> </a:t>
              </a:r>
              <a:r>
                <a:rPr lang="da-DK" sz="1200" dirty="0" err="1">
                  <a:latin typeface="+mn-lt"/>
                </a:rPr>
                <a:t>cell</a:t>
              </a:r>
              <a:endParaRPr lang="da-DK" sz="1200" dirty="0">
                <a:latin typeface="+mn-lt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155BF55-F7C4-CD91-5CBB-848B7B8E11FA}"/>
                </a:ext>
              </a:extLst>
            </p:cNvPr>
            <p:cNvSpPr/>
            <p:nvPr/>
          </p:nvSpPr>
          <p:spPr bwMode="auto">
            <a:xfrm>
              <a:off x="46534" y="2711200"/>
              <a:ext cx="216024" cy="216024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rgbClr val="1FD082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2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FD082"/>
                </a:highlight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5FABB6F-FF76-192A-909E-42F4CC8E6A75}"/>
                </a:ext>
              </a:extLst>
            </p:cNvPr>
            <p:cNvSpPr txBox="1"/>
            <p:nvPr/>
          </p:nvSpPr>
          <p:spPr>
            <a:xfrm>
              <a:off x="326914" y="2742558"/>
              <a:ext cx="60914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spcBef>
                  <a:spcPts val="432"/>
                </a:spcBef>
              </a:pPr>
              <a:r>
                <a:rPr lang="da-DK" sz="1200" dirty="0"/>
                <a:t>→ </a:t>
              </a:r>
              <a:r>
                <a:rPr lang="da-DK" sz="1200" dirty="0" err="1">
                  <a:latin typeface="+mn-lt"/>
                </a:rPr>
                <a:t>Slurry</a:t>
              </a:r>
              <a:endParaRPr lang="da-DK" sz="1200" dirty="0">
                <a:latin typeface="+mn-lt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51F2A8B-6725-719C-961F-020B01AEAD21}"/>
                </a:ext>
              </a:extLst>
            </p:cNvPr>
            <p:cNvSpPr/>
            <p:nvPr/>
          </p:nvSpPr>
          <p:spPr bwMode="auto">
            <a:xfrm>
              <a:off x="46534" y="2999232"/>
              <a:ext cx="216024" cy="216024"/>
            </a:xfrm>
            <a:prstGeom prst="rect">
              <a:avLst/>
            </a:prstGeom>
            <a:solidFill>
              <a:schemeClr val="accent2"/>
            </a:solidFill>
            <a:ln w="9525" cap="flat" cmpd="sng" algn="ctr">
              <a:solidFill>
                <a:srgbClr val="1FD082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432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2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highlight>
                  <a:srgbClr val="1FD082"/>
                </a:highlight>
                <a:latin typeface="+mn-lt"/>
                <a:ea typeface="ＭＳ Ｐゴシック" pitchFamily="-80" charset="-128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9DA3790-62D5-6AA6-6566-3C6BE9578670}"/>
                </a:ext>
              </a:extLst>
            </p:cNvPr>
            <p:cNvSpPr txBox="1"/>
            <p:nvPr/>
          </p:nvSpPr>
          <p:spPr>
            <a:xfrm>
              <a:off x="326914" y="3030590"/>
              <a:ext cx="735779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spcBef>
                  <a:spcPts val="432"/>
                </a:spcBef>
              </a:pPr>
              <a:r>
                <a:rPr lang="da-DK" sz="1200" dirty="0"/>
                <a:t>→ </a:t>
              </a:r>
              <a:r>
                <a:rPr lang="da-DK" sz="1200" dirty="0">
                  <a:latin typeface="+mn-lt"/>
                </a:rPr>
                <a:t>Coating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CF07231E-E907-30F3-BE5D-D7D9D32E7A30}"/>
              </a:ext>
            </a:extLst>
          </p:cNvPr>
          <p:cNvSpPr txBox="1"/>
          <p:nvPr/>
        </p:nvSpPr>
        <p:spPr>
          <a:xfrm>
            <a:off x="118542" y="1089636"/>
            <a:ext cx="89127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 b="1" dirty="0">
                <a:latin typeface="+mn-lt"/>
              </a:rPr>
              <a:t>Materials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E9B932-0A87-C4D3-7E76-04439E76E414}"/>
              </a:ext>
            </a:extLst>
          </p:cNvPr>
          <p:cNvSpPr txBox="1"/>
          <p:nvPr/>
        </p:nvSpPr>
        <p:spPr>
          <a:xfrm>
            <a:off x="46534" y="2649645"/>
            <a:ext cx="87844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 b="1" dirty="0" err="1">
                <a:latin typeface="+mn-lt"/>
              </a:rPr>
              <a:t>Batteries</a:t>
            </a:r>
            <a:endParaRPr lang="da-DK" b="1" dirty="0">
              <a:latin typeface="+mn-lt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14469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9D6E929-BE96-4135-6AAE-50436C6320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D104BD-DE29-17E4-1491-89B0A930E8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8B706-3896-12E4-2736-1CAB731BE23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F13451-7741-9ED8-A7BB-60603F9646F8}"/>
              </a:ext>
            </a:extLst>
          </p:cNvPr>
          <p:cNvSpPr txBox="1"/>
          <p:nvPr/>
        </p:nvSpPr>
        <p:spPr>
          <a:xfrm>
            <a:off x="5422163" y="764704"/>
            <a:ext cx="6084287" cy="50783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spcBef>
                <a:spcPts val="432"/>
              </a:spcBef>
              <a:buFont typeface="Wingdings" panose="05000000000000000000" pitchFamily="2" charset="2"/>
              <a:buChar char="ü"/>
            </a:pPr>
            <a:r>
              <a:rPr lang="da-DK" sz="1400" dirty="0" err="1"/>
              <a:t>Biochar</a:t>
            </a:r>
            <a:r>
              <a:rPr lang="da-DK" sz="1400" dirty="0"/>
              <a:t> </a:t>
            </a:r>
            <a:r>
              <a:rPr lang="da-DK" sz="1400" dirty="0" err="1"/>
              <a:t>pyrolysis</a:t>
            </a:r>
            <a:r>
              <a:rPr lang="da-DK" sz="1400" dirty="0"/>
              <a:t> </a:t>
            </a:r>
            <a:r>
              <a:rPr lang="da-DK" sz="1400" dirty="0" err="1"/>
              <a:t>completed</a:t>
            </a:r>
            <a:r>
              <a:rPr lang="da-DK" sz="1400" dirty="0"/>
              <a:t> in the </a:t>
            </a:r>
            <a:r>
              <a:rPr lang="da-DK" sz="1400" dirty="0" err="1"/>
              <a:t>Furnace</a:t>
            </a:r>
            <a:r>
              <a:rPr lang="da-DK" sz="1400" dirty="0"/>
              <a:t> Lab.</a:t>
            </a:r>
          </a:p>
          <a:p>
            <a:pPr marL="285750" indent="-285750">
              <a:spcBef>
                <a:spcPts val="432"/>
              </a:spcBef>
              <a:buFont typeface="Wingdings" panose="05000000000000000000" pitchFamily="2" charset="2"/>
              <a:buChar char="ü"/>
            </a:pPr>
            <a:r>
              <a:rPr lang="da-DK" sz="1400" dirty="0"/>
              <a:t>XRD </a:t>
            </a:r>
            <a:r>
              <a:rPr lang="da-DK" sz="1400" dirty="0" err="1"/>
              <a:t>analysis</a:t>
            </a:r>
            <a:r>
              <a:rPr lang="da-DK" sz="1400" dirty="0"/>
              <a:t> done.</a:t>
            </a:r>
          </a:p>
          <a:p>
            <a:pPr marL="285750" indent="-285750">
              <a:spcBef>
                <a:spcPts val="432"/>
              </a:spcBef>
              <a:buFont typeface="Wingdings" panose="05000000000000000000" pitchFamily="2" charset="2"/>
              <a:buChar char="ü"/>
            </a:pPr>
            <a:endParaRPr lang="da-DK" sz="1400" dirty="0"/>
          </a:p>
          <a:p>
            <a:pPr marL="285750" indent="-285750">
              <a:spcBef>
                <a:spcPts val="432"/>
              </a:spcBef>
              <a:buFont typeface="Wingdings" panose="05000000000000000000" pitchFamily="2" charset="2"/>
              <a:buChar char="ü"/>
            </a:pPr>
            <a:r>
              <a:rPr lang="da-DK" sz="1400" dirty="0" err="1"/>
              <a:t>Slurry</a:t>
            </a:r>
            <a:r>
              <a:rPr lang="da-DK" sz="1400" dirty="0"/>
              <a:t> </a:t>
            </a:r>
            <a:r>
              <a:rPr lang="da-DK" sz="1400" dirty="0" err="1"/>
              <a:t>prepared</a:t>
            </a:r>
            <a:r>
              <a:rPr lang="da-DK" sz="1400" dirty="0"/>
              <a:t> </a:t>
            </a:r>
            <a:r>
              <a:rPr lang="da-DK" sz="1400" dirty="0" err="1"/>
              <a:t>using</a:t>
            </a:r>
            <a:r>
              <a:rPr lang="da-DK" sz="1400" dirty="0"/>
              <a:t> MMB1-10A</a:t>
            </a:r>
          </a:p>
          <a:p>
            <a:pPr marL="285750" indent="-285750">
              <a:spcBef>
                <a:spcPts val="432"/>
              </a:spcBef>
              <a:buFont typeface="Wingdings" panose="05000000000000000000" pitchFamily="2" charset="2"/>
              <a:buChar char="Ø"/>
            </a:pPr>
            <a:r>
              <a:rPr lang="da-DK" sz="1400" dirty="0"/>
              <a:t>The </a:t>
            </a:r>
            <a:r>
              <a:rPr lang="da-DK" sz="1400" dirty="0" err="1"/>
              <a:t>powder</a:t>
            </a:r>
            <a:r>
              <a:rPr lang="da-DK" sz="1400" dirty="0"/>
              <a:t> </a:t>
            </a:r>
            <a:r>
              <a:rPr lang="da-DK" sz="1400" dirty="0" err="1"/>
              <a:t>needs</a:t>
            </a:r>
            <a:r>
              <a:rPr lang="da-DK" sz="1400" dirty="0"/>
              <a:t> </a:t>
            </a:r>
            <a:r>
              <a:rPr lang="da-DK" sz="1400" dirty="0" err="1"/>
              <a:t>further</a:t>
            </a:r>
            <a:r>
              <a:rPr lang="da-DK" sz="1400" dirty="0"/>
              <a:t> </a:t>
            </a:r>
            <a:r>
              <a:rPr lang="da-DK" sz="1400" dirty="0" err="1"/>
              <a:t>grinding</a:t>
            </a:r>
            <a:r>
              <a:rPr lang="da-DK" sz="1400" dirty="0"/>
              <a:t> to </a:t>
            </a:r>
            <a:r>
              <a:rPr lang="da-DK" sz="1400" dirty="0" err="1"/>
              <a:t>achieve</a:t>
            </a:r>
            <a:r>
              <a:rPr lang="da-DK" sz="1400" dirty="0"/>
              <a:t> a finer </a:t>
            </a:r>
            <a:r>
              <a:rPr lang="da-DK" sz="1400" dirty="0" err="1"/>
              <a:t>particle</a:t>
            </a:r>
            <a:r>
              <a:rPr lang="da-DK" sz="1400" dirty="0"/>
              <a:t> </a:t>
            </a:r>
            <a:r>
              <a:rPr lang="da-DK" sz="1400" dirty="0" err="1"/>
              <a:t>size</a:t>
            </a:r>
            <a:r>
              <a:rPr lang="da-DK" sz="1400" dirty="0"/>
              <a:t>.</a:t>
            </a:r>
          </a:p>
          <a:p>
            <a:pPr marL="285750" indent="-285750">
              <a:spcBef>
                <a:spcPts val="432"/>
              </a:spcBef>
              <a:buFont typeface="Wingdings" panose="05000000000000000000" pitchFamily="2" charset="2"/>
              <a:buChar char="Ø"/>
            </a:pPr>
            <a:endParaRPr lang="da-DK" sz="1400" dirty="0"/>
          </a:p>
          <a:p>
            <a:pPr marL="285750" indent="-285750">
              <a:spcBef>
                <a:spcPts val="432"/>
              </a:spcBef>
              <a:buFont typeface="Wingdings" panose="05000000000000000000" pitchFamily="2" charset="2"/>
              <a:buChar char="ü"/>
            </a:pPr>
            <a:r>
              <a:rPr lang="da-DK" sz="1400" dirty="0"/>
              <a:t>Coating and </a:t>
            </a:r>
            <a:r>
              <a:rPr lang="da-DK" sz="1400" dirty="0" err="1"/>
              <a:t>calendering</a:t>
            </a:r>
            <a:r>
              <a:rPr lang="da-DK" sz="1400" dirty="0"/>
              <a:t> </a:t>
            </a:r>
            <a:r>
              <a:rPr lang="da-DK" sz="1400" dirty="0" err="1"/>
              <a:t>completed</a:t>
            </a:r>
            <a:r>
              <a:rPr lang="da-DK" sz="1400" dirty="0"/>
              <a:t>.</a:t>
            </a:r>
          </a:p>
          <a:p>
            <a:pPr>
              <a:spcBef>
                <a:spcPts val="432"/>
              </a:spcBef>
            </a:pPr>
            <a:endParaRPr lang="da-DK" sz="1400" dirty="0"/>
          </a:p>
          <a:p>
            <a:pPr marL="285750" indent="-285750">
              <a:spcBef>
                <a:spcPts val="432"/>
              </a:spcBef>
              <a:buFont typeface="Wingdings" panose="05000000000000000000" pitchFamily="2" charset="2"/>
              <a:buChar char="Ø"/>
            </a:pPr>
            <a:r>
              <a:rPr lang="da-DK" sz="1400" dirty="0"/>
              <a:t>The XRD </a:t>
            </a:r>
            <a:r>
              <a:rPr lang="da-DK" sz="1400" dirty="0" err="1"/>
              <a:t>raw</a:t>
            </a:r>
            <a:r>
              <a:rPr lang="da-DK" sz="1400" dirty="0"/>
              <a:t> data have </a:t>
            </a:r>
            <a:r>
              <a:rPr lang="da-DK" sz="1400" dirty="0" err="1"/>
              <a:t>been</a:t>
            </a:r>
            <a:r>
              <a:rPr lang="da-DK" sz="1400" dirty="0"/>
              <a:t> </a:t>
            </a:r>
            <a:r>
              <a:rPr lang="da-DK" sz="1400" dirty="0" err="1"/>
              <a:t>uploaded</a:t>
            </a:r>
            <a:r>
              <a:rPr lang="da-DK" sz="1400" dirty="0"/>
              <a:t> to the </a:t>
            </a:r>
            <a:r>
              <a:rPr lang="da-DK" sz="1400" dirty="0" err="1"/>
              <a:t>BioNa</a:t>
            </a:r>
            <a:r>
              <a:rPr lang="da-DK" sz="1400" dirty="0"/>
              <a:t> Teams. To </a:t>
            </a:r>
            <a:r>
              <a:rPr lang="da-DK" sz="1400" dirty="0" err="1"/>
              <a:t>examine</a:t>
            </a:r>
            <a:r>
              <a:rPr lang="da-DK" sz="1400" dirty="0"/>
              <a:t> the </a:t>
            </a:r>
            <a:r>
              <a:rPr lang="da-DK" sz="1400" dirty="0" err="1"/>
              <a:t>results</a:t>
            </a:r>
            <a:r>
              <a:rPr lang="da-DK" sz="1400" dirty="0"/>
              <a:t>, </a:t>
            </a:r>
            <a:r>
              <a:rPr lang="da-DK" sz="1400" dirty="0" err="1"/>
              <a:t>you</a:t>
            </a:r>
            <a:r>
              <a:rPr lang="da-DK" sz="1400" dirty="0"/>
              <a:t> </a:t>
            </a:r>
            <a:r>
              <a:rPr lang="da-DK" sz="1400" dirty="0" err="1"/>
              <a:t>can</a:t>
            </a:r>
            <a:r>
              <a:rPr lang="da-DK" sz="1400" dirty="0"/>
              <a:t> find </a:t>
            </a:r>
            <a:r>
              <a:rPr lang="da-DK" sz="1400" dirty="0" err="1"/>
              <a:t>them</a:t>
            </a:r>
            <a:r>
              <a:rPr lang="da-DK" sz="1400" dirty="0"/>
              <a:t> under MMB1A in the General </a:t>
            </a:r>
            <a:r>
              <a:rPr lang="da-DK" sz="1400" dirty="0" err="1"/>
              <a:t>Results</a:t>
            </a:r>
            <a:r>
              <a:rPr lang="da-DK" sz="1400" dirty="0"/>
              <a:t> folder.</a:t>
            </a:r>
          </a:p>
          <a:p>
            <a:pPr marL="285750" indent="-285750">
              <a:spcBef>
                <a:spcPts val="432"/>
              </a:spcBef>
              <a:buFont typeface="Wingdings" panose="05000000000000000000" pitchFamily="2" charset="2"/>
              <a:buChar char="Ø"/>
            </a:pPr>
            <a:endParaRPr lang="da-DK" sz="1400" dirty="0"/>
          </a:p>
          <a:p>
            <a:pPr marL="285750" indent="-285750">
              <a:spcBef>
                <a:spcPts val="432"/>
              </a:spcBef>
              <a:buFont typeface="Wingdings" panose="05000000000000000000" pitchFamily="2" charset="2"/>
              <a:buChar char="Ø"/>
            </a:pPr>
            <a:r>
              <a:rPr lang="da-DK" sz="1400" dirty="0"/>
              <a:t>Please </a:t>
            </a:r>
            <a:r>
              <a:rPr lang="da-DK" sz="1400" dirty="0" err="1"/>
              <a:t>focus</a:t>
            </a:r>
            <a:r>
              <a:rPr lang="da-DK" sz="1400" dirty="0"/>
              <a:t> on the </a:t>
            </a:r>
            <a:r>
              <a:rPr lang="da-DK" sz="1400" dirty="0" err="1"/>
              <a:t>literature</a:t>
            </a:r>
            <a:r>
              <a:rPr lang="da-DK" sz="1400" dirty="0"/>
              <a:t> </a:t>
            </a:r>
            <a:r>
              <a:rPr lang="da-DK" sz="1400" dirty="0" err="1"/>
              <a:t>review</a:t>
            </a:r>
            <a:r>
              <a:rPr lang="da-DK" sz="1400" dirty="0"/>
              <a:t> of </a:t>
            </a:r>
            <a:r>
              <a:rPr lang="da-DK" sz="1400" dirty="0" err="1"/>
              <a:t>coin</a:t>
            </a:r>
            <a:r>
              <a:rPr lang="da-DK" sz="1400" dirty="0"/>
              <a:t> </a:t>
            </a:r>
            <a:r>
              <a:rPr lang="da-DK" sz="1400" dirty="0" err="1"/>
              <a:t>cell</a:t>
            </a:r>
            <a:r>
              <a:rPr lang="da-DK" sz="1400" dirty="0"/>
              <a:t> </a:t>
            </a:r>
            <a:r>
              <a:rPr lang="da-DK" sz="1400" dirty="0" err="1"/>
              <a:t>assembly</a:t>
            </a:r>
            <a:r>
              <a:rPr lang="da-DK" sz="1400" dirty="0"/>
              <a:t> and </a:t>
            </a:r>
            <a:r>
              <a:rPr lang="da-DK" sz="1400" dirty="0" err="1"/>
              <a:t>testing</a:t>
            </a:r>
            <a:r>
              <a:rPr lang="da-DK" sz="1400" dirty="0"/>
              <a:t> parameters.</a:t>
            </a:r>
          </a:p>
          <a:p>
            <a:pPr marL="285750" indent="-285750">
              <a:spcBef>
                <a:spcPts val="432"/>
              </a:spcBef>
              <a:buFont typeface="Wingdings" panose="05000000000000000000" pitchFamily="2" charset="2"/>
              <a:buChar char="Ø"/>
            </a:pPr>
            <a:endParaRPr lang="da-DK" sz="1400" dirty="0"/>
          </a:p>
          <a:p>
            <a:pPr marL="285750" indent="-285750">
              <a:spcBef>
                <a:spcPts val="432"/>
              </a:spcBef>
              <a:buFont typeface="Wingdings" panose="05000000000000000000" pitchFamily="2" charset="2"/>
              <a:buChar char="Ø"/>
            </a:pPr>
            <a:r>
              <a:rPr lang="da-DK" sz="1400" dirty="0">
                <a:hlinkClick r:id="rId2"/>
              </a:rPr>
              <a:t>https://doi.org/10.1021/acs.energyfuels.5c04452</a:t>
            </a:r>
            <a:endParaRPr lang="da-DK" sz="1400" dirty="0"/>
          </a:p>
          <a:p>
            <a:pPr marL="285750" indent="-285750">
              <a:spcBef>
                <a:spcPts val="432"/>
              </a:spcBef>
              <a:buFont typeface="Wingdings" panose="05000000000000000000" pitchFamily="2" charset="2"/>
              <a:buChar char="Ø"/>
            </a:pPr>
            <a:r>
              <a:rPr lang="da-DK" sz="1400" dirty="0">
                <a:hlinkClick r:id="rId3"/>
              </a:rPr>
              <a:t>https://doi.org/10.1016/j.cej.2025.161953</a:t>
            </a:r>
            <a:endParaRPr lang="da-DK" sz="1400" dirty="0"/>
          </a:p>
          <a:p>
            <a:pPr marL="285750" indent="-285750">
              <a:spcBef>
                <a:spcPts val="432"/>
              </a:spcBef>
              <a:buFont typeface="Wingdings" panose="05000000000000000000" pitchFamily="2" charset="2"/>
              <a:buChar char="Ø"/>
            </a:pPr>
            <a:r>
              <a:rPr lang="da-DK" sz="1400" dirty="0">
                <a:hlinkClick r:id="rId4"/>
              </a:rPr>
              <a:t>https://doi.org/10.1016/j.mattod.2018.12.040</a:t>
            </a:r>
            <a:endParaRPr lang="da-DK" sz="1400" dirty="0"/>
          </a:p>
          <a:p>
            <a:pPr marL="285750" indent="-285750">
              <a:spcBef>
                <a:spcPts val="432"/>
              </a:spcBef>
              <a:buFont typeface="Wingdings" panose="05000000000000000000" pitchFamily="2" charset="2"/>
              <a:buChar char="Ø"/>
            </a:pPr>
            <a:endParaRPr lang="da-DK" sz="1400" dirty="0"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55D34D-94A7-7E87-572E-DD287595E8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630" y="814400"/>
            <a:ext cx="3921900" cy="5229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F88084-39B7-7A34-C85E-EDA089D9CCE8}"/>
              </a:ext>
            </a:extLst>
          </p:cNvPr>
          <p:cNvSpPr txBox="1"/>
          <p:nvPr/>
        </p:nvSpPr>
        <p:spPr>
          <a:xfrm>
            <a:off x="1702718" y="476672"/>
            <a:ext cx="235359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432"/>
              </a:spcBef>
            </a:pPr>
            <a:r>
              <a:rPr lang="da-DK" b="1" dirty="0" err="1">
                <a:latin typeface="+mn-lt"/>
              </a:rPr>
              <a:t>BioNa</a:t>
            </a:r>
            <a:r>
              <a:rPr lang="da-DK" b="1" dirty="0">
                <a:latin typeface="+mn-lt"/>
              </a:rPr>
              <a:t> MMB1A </a:t>
            </a:r>
            <a:r>
              <a:rPr lang="da-DK" b="1" dirty="0" err="1">
                <a:latin typeface="+mn-lt"/>
              </a:rPr>
              <a:t>materials</a:t>
            </a:r>
            <a:endParaRPr lang="da-DK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275477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1FD082"/>
        </a:solidFill>
        <a:ln w="9525" cap="flat" cmpd="sng" algn="ctr">
          <a:solidFill>
            <a:srgbClr val="1FD082"/>
          </a:solidFill>
          <a:prstDash val="solid"/>
          <a:miter lim="800000"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90000" tIns="46800" rIns="90000" bIns="468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TU Template 16_9 - Bright green-ENG.potx" id="{92AEC5D2-AC92-4FCF-B04F-27D13C14164D}" vid="{EA778C86-8168-420B-9EE6-249FEF0FE59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item1.xml><?xml version="1.0" encoding="utf-8"?>
<TemplafyTemplateConfiguration><![CDATA[{"elementsMetadata":[],"transformationConfigurations":[{"language":"{{DocumentLanguage}}","disableUpdates":false,"type":"proofingLanguage"}],"templateName":"DTU Template 16_9 - Bright green","templateDescription":"","enableDocumentContentUpdater":true,"version":"1.2"}]]></TemplafyTemplateConfiguration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TemplafySlideTemplateConfiguration><![CDATA[{"elementsMetadata":[],"documentContentValidatorConfiguration":{"enableDocumentContentValidator":false,"documentContentValidatorVersion":0},"slideId":"636957681252859362","enableDocumentContentUpdater":true,"version":"1.2"}]]></TemplafySlideTemplateConfiguration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elementsMetadata":[],"documentContentValidatorConfiguration":{"enableDocumentContentValidator":false,"documentContentValidatorVersion":0},"slideId":"636957681252546796","enableDocumentContentUpdater":true,"version":"1.2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FormConfiguration><![CDATA[{"formFields":[{"required":false,"type":"datePicker","name":"Date","label":"Date","helpTexts":{"prefix":"","postfix":""},"spacing":{},"fullyQualifiedName":"Date"},{"required":false,"placeholder":"","lines":0,"type":"textBox","name":"PresentationTitle","label":"Presentation title","helpTexts":{"prefix":"","postfix":""},"spacing":{},"fullyQualifiedName":"PresentationTitle"}],"formDataEntries":[]}]]></TemplafyFormConfiguration>
</file>

<file path=customXml/item10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DA1FD2B40FDA458284BB6FCA763489" ma:contentTypeVersion="5" ma:contentTypeDescription="Create a new document." ma:contentTypeScope="" ma:versionID="72b2569ebc96083092f6d8e76413cd52">
  <xsd:schema xmlns:xsd="http://www.w3.org/2001/XMLSchema" xmlns:xs="http://www.w3.org/2001/XMLSchema" xmlns:p="http://schemas.microsoft.com/office/2006/metadata/properties" xmlns:ns2="683dcda1-f8c3-442f-ae64-e236c052732d" xmlns:ns3="715bde23-c48d-41ea-a697-dffaa8fbae8d" targetNamespace="http://schemas.microsoft.com/office/2006/metadata/properties" ma:root="true" ma:fieldsID="df14c340b530a7b5c38005fefa6a5693" ns2:_="" ns3:_="">
    <xsd:import namespace="683dcda1-f8c3-442f-ae64-e236c052732d"/>
    <xsd:import namespace="715bde23-c48d-41ea-a697-dffaa8fbae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dcda1-f8c3-442f-ae64-e236c0527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5bde23-c48d-41ea-a697-dffaa8fbae8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1.xml><?xml version="1.0" encoding="utf-8"?>
<TemplafySlideTemplateConfiguration><![CDATA[{"elementsMetadata":[],"documentContentValidatorConfiguration":{"enableDocumentContentValidator":false,"documentContentValidatorVersion":0},"slideId":"636957681252703143","enableDocumentContentUpdater":true,"version":"1.2"}]]></TemplafySlideTemplate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TemplafySlideTemplateConfiguration><![CDATA[{"elementsMetadata":[],"documentContentValidatorConfiguration":{"enableDocumentContentValidator":false,"documentContentValidatorVersion":0},"slideId":"636957681252859362","enableDocumentContentUpdater":true,"version":"1.2"}]]></TemplafySlideTemplateConfiguration>
</file>

<file path=customXml/itemProps1.xml><?xml version="1.0" encoding="utf-8"?>
<ds:datastoreItem xmlns:ds="http://schemas.openxmlformats.org/officeDocument/2006/customXml" ds:itemID="{1334258C-C3E7-4029-A615-C886A240FB15}">
  <ds:schemaRefs/>
</ds:datastoreItem>
</file>

<file path=customXml/itemProps2.xml><?xml version="1.0" encoding="utf-8"?>
<ds:datastoreItem xmlns:ds="http://schemas.openxmlformats.org/officeDocument/2006/customXml" ds:itemID="{267CE591-B66B-4B81-BF80-E78099BD4D7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48E4CA4-BBF0-42D8-A72E-27B48FA7095D}">
  <ds:schemaRefs/>
</ds:datastoreItem>
</file>

<file path=customXml/itemProps4.xml><?xml version="1.0" encoding="utf-8"?>
<ds:datastoreItem xmlns:ds="http://schemas.openxmlformats.org/officeDocument/2006/customXml" ds:itemID="{64719599-4729-4388-86CE-B4EE637AE504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5790D12E-4F9E-4A0A-B142-4A983E0E62C6}">
  <ds:schemaRefs/>
</ds:datastoreItem>
</file>

<file path=customXml/itemProps6.xml><?xml version="1.0" encoding="utf-8"?>
<ds:datastoreItem xmlns:ds="http://schemas.openxmlformats.org/officeDocument/2006/customXml" ds:itemID="{0DA93C4F-8AAD-4B57-9E4B-183F60609683}">
  <ds:schemaRefs/>
</ds:datastoreItem>
</file>

<file path=customXml/itemProps7.xml><?xml version="1.0" encoding="utf-8"?>
<ds:datastoreItem xmlns:ds="http://schemas.openxmlformats.org/officeDocument/2006/customXml" ds:itemID="{56D330BC-CCE2-41B1-A536-6536B562ADDA}">
  <ds:schemaRefs/>
</ds:datastoreItem>
</file>

<file path=customXml/itemProps8.xml><?xml version="1.0" encoding="utf-8"?>
<ds:datastoreItem xmlns:ds="http://schemas.openxmlformats.org/officeDocument/2006/customXml" ds:itemID="{E7235E32-C044-45B4-B467-C0EEB8B45C7F}">
  <ds:schemaRefs/>
</ds:datastoreItem>
</file>

<file path=customXml/itemProps9.xml><?xml version="1.0" encoding="utf-8"?>
<ds:datastoreItem xmlns:ds="http://schemas.openxmlformats.org/officeDocument/2006/customXml" ds:itemID="{28B34BC0-A879-491A-95E0-D0CF686A5C64}">
  <ds:schemaRefs/>
</ds:datastoreItem>
</file>

<file path=customXml/itemProps10.xml><?xml version="1.0" encoding="utf-8"?>
<ds:datastoreItem xmlns:ds="http://schemas.openxmlformats.org/officeDocument/2006/customXml" ds:itemID="{B3946908-A153-47E2-8124-75D150E324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3dcda1-f8c3-442f-ae64-e236c052732d"/>
    <ds:schemaRef ds:uri="715bde23-c48d-41ea-a697-dffaa8fbae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11.xml><?xml version="1.0" encoding="utf-8"?>
<ds:datastoreItem xmlns:ds="http://schemas.openxmlformats.org/officeDocument/2006/customXml" ds:itemID="{1E343CEC-E9BD-43EA-92F2-DC5DB528CCAC}">
  <ds:schemaRefs/>
</ds:datastoreItem>
</file>

<file path=customXml/itemProps12.xml><?xml version="1.0" encoding="utf-8"?>
<ds:datastoreItem xmlns:ds="http://schemas.openxmlformats.org/officeDocument/2006/customXml" ds:itemID="{9F509266-6A44-488E-8D5C-72B33FC413F7}">
  <ds:schemaRefs/>
</ds:datastoreItem>
</file>

<file path=customXml/itemProps13.xml><?xml version="1.0" encoding="utf-8"?>
<ds:datastoreItem xmlns:ds="http://schemas.openxmlformats.org/officeDocument/2006/customXml" ds:itemID="{98DD2B64-3885-4FDD-880E-5DA31BE5543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DTU Template 16_9 - Bright green-ENG</Template>
  <TotalTime>1066</TotalTime>
  <Words>450</Words>
  <Application>Microsoft Office PowerPoint</Application>
  <PresentationFormat>Custom</PresentationFormat>
  <Paragraphs>159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Verdana</vt:lpstr>
      <vt:lpstr>Wingdings</vt:lpstr>
      <vt:lpstr>Blank</vt:lpstr>
      <vt:lpstr>PowerPoint Presentation</vt:lpstr>
      <vt:lpstr>Status update Hard Carbon Synthesis &amp; Characterisation for Sodium-Ion Anodes   10 ECTS: 18-05 / 31-07-2026 Nihat Sahin Peter Curran Johan Hjelm </vt:lpstr>
      <vt:lpstr>Joao Materials: Multi-stage Pyrolysis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Nihat Ege Sahin</dc:creator>
  <cp:lastModifiedBy>Nihat Ege Sahin</cp:lastModifiedBy>
  <cp:revision>72</cp:revision>
  <dcterms:created xsi:type="dcterms:W3CDTF">2026-05-01T14:17:04Z</dcterms:created>
  <dcterms:modified xsi:type="dcterms:W3CDTF">2026-06-08T15:13:05Z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imeStamp">
    <vt:lpwstr>2019-06-10T12:55:25.0605449Z</vt:lpwstr>
  </property>
  <property fmtid="{D5CDD505-2E9C-101B-9397-08002B2CF9AE}" pid="4" name="ContentTypeId">
    <vt:lpwstr>0x0101009ADA1FD2B40FDA458284BB6FCA763489</vt:lpwstr>
  </property>
</Properties>
</file>